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(M)</c:v>
                </c:pt>
              </c:strCache>
            </c:strRef>
          </c:tx>
          <c:spPr>
            <a:solidFill>
              <a:srgbClr val="118DFF"/>
            </a:solidFill>
            <a:effectLst/>
          </c:spPr>
          <c:invertIfNegative val="0"/>
          <c:dLbls>
            <c:numFmt formatCode="0.0#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Technology</c:v>
                </c:pt>
                <c:pt idx="1">
                  <c:v>Furniture</c:v>
                </c:pt>
                <c:pt idx="2">
                  <c:v>Office Supplies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4.7</c:v>
                </c:pt>
                <c:pt idx="1">
                  <c:v>4.0999999999999996</c:v>
                </c:pt>
                <c:pt idx="2">
                  <c:v>3.8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1AE-4D4C-903C-C87D46867DA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Profit (M)</c:v>
                </c:pt>
              </c:strCache>
            </c:strRef>
          </c:tx>
          <c:spPr>
            <a:solidFill>
              <a:srgbClr val="F2A900"/>
            </a:solidFill>
            <a:effectLst/>
          </c:spPr>
          <c:invertIfNegative val="0"/>
          <c:dLbls>
            <c:numFmt formatCode="0.0#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Technology</c:v>
                </c:pt>
                <c:pt idx="1">
                  <c:v>Furniture</c:v>
                </c:pt>
                <c:pt idx="2">
                  <c:v>Office Supplies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0.66</c:v>
                </c:pt>
                <c:pt idx="1">
                  <c:v>0.28999999999999998</c:v>
                </c:pt>
                <c:pt idx="2">
                  <c:v>0.52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1AE-4D4C-903C-C87D46867DA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1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F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2545"/>
                </a:solidFill>
                <a:latin typeface="Calibri"/>
              </a:defRPr>
            </a:pPr>
            <a:r>
              <a:rPr lang="en-US" sz="1400" b="0" i="0" u="none" strike="noStrike">
                <a:solidFill>
                  <a:srgbClr val="0B2545"/>
                </a:solidFill>
                <a:latin typeface="Calibri"/>
              </a:rPr>
              <a:t>Top regions by sales (M)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(M)</c:v>
                </c:pt>
              </c:strCache>
            </c:strRef>
          </c:tx>
          <c:spPr>
            <a:solidFill>
              <a:srgbClr val="118DFF"/>
            </a:solidFill>
            <a:effectLst/>
          </c:spPr>
          <c:invertIfNegative val="0"/>
          <c:dLbls>
            <c:numFmt formatCode="0.0#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Central</c:v>
                </c:pt>
                <c:pt idx="1">
                  <c:v>South</c:v>
                </c:pt>
                <c:pt idx="2">
                  <c:v>North</c:v>
                </c:pt>
                <c:pt idx="3">
                  <c:v>Oceania</c:v>
                </c:pt>
                <c:pt idx="4">
                  <c:v>SE Asia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2.8</c:v>
                </c:pt>
                <c:pt idx="1">
                  <c:v>1.6</c:v>
                </c:pt>
                <c:pt idx="2">
                  <c:v>1.25</c:v>
                </c:pt>
                <c:pt idx="3">
                  <c:v>1.1000000000000001</c:v>
                </c:pt>
                <c:pt idx="4">
                  <c:v>0.88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E93-407E-AC62-17906F9D15C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t"/>
        <c:majorGridlines>
          <c:spPr>
            <a:ln w="6350" cap="flat">
              <a:solidFill>
                <a:srgbClr val="E1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F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69073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Performance Dashboard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5603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C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4: Dashboard Design  |  Data Analyst Internship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1148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Muhammed Bishar Ashraf 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 &amp; Approach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840480" cy="1508760"/>
          </a:xfrm>
          <a:prstGeom prst="roundRect">
            <a:avLst>
              <a:gd name="adj" fmla="val 7273"/>
            </a:avLst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8D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7452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 interactive dashboard that helps business stakeholders make decisions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663440" y="1325880"/>
            <a:ext cx="3840480" cy="1508760"/>
          </a:xfrm>
          <a:prstGeom prst="roundRect">
            <a:avLst>
              <a:gd name="adj" fmla="val 7273"/>
            </a:avLst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1463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8D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87452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Power BI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063240"/>
            <a:ext cx="3840480" cy="1508760"/>
          </a:xfrm>
          <a:prstGeom prst="roundRect">
            <a:avLst>
              <a:gd name="adj" fmla="val 7273"/>
            </a:avLst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2004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8D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61188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Sales &amp; Financial (Superstore-style) dataset from Kaggle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663440" y="3063240"/>
            <a:ext cx="3840480" cy="1508760"/>
          </a:xfrm>
          <a:prstGeom prst="roundRect">
            <a:avLst>
              <a:gd name="adj" fmla="val 7273"/>
            </a:avLst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92040" y="32004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8D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Deliverables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361188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+ PPT summary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Dashboard</a:t>
            </a:r>
            <a:endParaRPr lang="en-US" sz="3200" dirty="0"/>
          </a:p>
        </p:txBody>
      </p:sp>
      <p:pic>
        <p:nvPicPr>
          <p:cNvPr id="3" name="Image 0" descr="/mnt/user-data/uploads/Screenshot_2026-10-06_1456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88720"/>
            <a:ext cx="6309360" cy="348784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132320" y="1188720"/>
            <a:ext cx="17373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18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KPI cards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slicers: Year, Market, Category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sales trend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and profit by category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by region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Headline KPIs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1463040" cy="2011680"/>
          </a:xfrm>
          <a:prstGeom prst="roundRect">
            <a:avLst>
              <a:gd name="adj" fmla="val 7500"/>
            </a:avLst>
          </a:prstGeom>
          <a:solidFill>
            <a:srgbClr val="13386B"/>
          </a:solidFill>
          <a:ln w="12700">
            <a:solidFill>
              <a:srgbClr val="13386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20116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13M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8346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176272" y="1645920"/>
            <a:ext cx="1463040" cy="2011680"/>
          </a:xfrm>
          <a:prstGeom prst="roundRect">
            <a:avLst>
              <a:gd name="adj" fmla="val 7500"/>
            </a:avLst>
          </a:prstGeom>
          <a:solidFill>
            <a:srgbClr val="13386B"/>
          </a:solidFill>
          <a:ln w="12700">
            <a:solidFill>
              <a:srgbClr val="1338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176272" y="20116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1.47M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2176272" y="28346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803904" y="1645920"/>
            <a:ext cx="1463040" cy="2011680"/>
          </a:xfrm>
          <a:prstGeom prst="roundRect">
            <a:avLst>
              <a:gd name="adj" fmla="val 7500"/>
            </a:avLst>
          </a:prstGeom>
          <a:solidFill>
            <a:srgbClr val="13386B"/>
          </a:solidFill>
          <a:ln w="12700">
            <a:solidFill>
              <a:srgbClr val="1338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803904" y="20116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25K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3803904" y="28346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31536" y="1645920"/>
            <a:ext cx="1463040" cy="2011680"/>
          </a:xfrm>
          <a:prstGeom prst="roundRect">
            <a:avLst>
              <a:gd name="adj" fmla="val 7500"/>
            </a:avLst>
          </a:prstGeom>
          <a:solidFill>
            <a:srgbClr val="13386B"/>
          </a:solidFill>
          <a:ln w="12700">
            <a:solidFill>
              <a:srgbClr val="1338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31536" y="20116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11.62%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5431536" y="28346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059168" y="1645920"/>
            <a:ext cx="1463040" cy="2011680"/>
          </a:xfrm>
          <a:prstGeom prst="roundRect">
            <a:avLst>
              <a:gd name="adj" fmla="val 7500"/>
            </a:avLst>
          </a:prstGeom>
          <a:solidFill>
            <a:srgbClr val="13386B"/>
          </a:solidFill>
          <a:ln w="12700">
            <a:solidFill>
              <a:srgbClr val="13386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059168" y="20116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51.5%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7059168" y="28346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Growth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0233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volume is strong, but only about 11 cents of every sales dollar becomes profit.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Category: Sales vs Profit</a:t>
            </a:r>
            <a:endParaRPr lang="en-US" sz="32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548640" y="1188720"/>
          <a:ext cx="512064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5943600" y="1188720"/>
            <a:ext cx="2743200" cy="338328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126480" y="1325880"/>
            <a:ext cx="23774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18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leads in both sales and profit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 has high sales but the lowest profit, so its margin is weak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Supplies is steady and profitable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Trend &amp; Regional 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3931920" cy="3383280"/>
          </a:xfrm>
          <a:prstGeom prst="roundRect">
            <a:avLst>
              <a:gd name="adj" fmla="val 3243"/>
            </a:avLst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325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8D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 Sales Trend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783080"/>
            <a:ext cx="3474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grew from about 0.1M per month in 2011 to about 0.5M by late 2014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seasonality: peaks late each year, dips early in the year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stock and campaigns around the seasonal peaks</a:t>
            </a:r>
            <a:endParaRPr lang="en-US" sz="14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663440" y="1188720"/>
          <a:ext cx="402336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Features Applied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2560320" cy="1463040"/>
          </a:xfrm>
          <a:prstGeom prst="roundRect">
            <a:avLst>
              <a:gd name="adj" fmla="val 7500"/>
            </a:avLst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463040"/>
            <a:ext cx="365760" cy="365760"/>
          </a:xfrm>
          <a:prstGeom prst="ellipse">
            <a:avLst/>
          </a:prstGeom>
          <a:solidFill>
            <a:srgbClr val="118DFF"/>
          </a:solidFill>
          <a:ln w="12700">
            <a:solidFill>
              <a:srgbClr val="118D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463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0116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Sales, Profit and Growth chosen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91840" y="1280160"/>
            <a:ext cx="2560320" cy="1463040"/>
          </a:xfrm>
          <a:prstGeom prst="roundRect">
            <a:avLst>
              <a:gd name="adj" fmla="val 7500"/>
            </a:avLst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0" y="1463040"/>
            <a:ext cx="365760" cy="365760"/>
          </a:xfrm>
          <a:prstGeom prst="ellipse">
            <a:avLst/>
          </a:prstGeom>
          <a:solidFill>
            <a:srgbClr val="118DFF"/>
          </a:solidFill>
          <a:ln w="12700">
            <a:solidFill>
              <a:srgbClr val="118D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7472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977640" y="1463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Slicers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20116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Year, Market, Category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1280160"/>
            <a:ext cx="2560320" cy="1463040"/>
          </a:xfrm>
          <a:prstGeom prst="roundRect">
            <a:avLst>
              <a:gd name="adj" fmla="val 7500"/>
            </a:avLst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1463040"/>
            <a:ext cx="365760" cy="365760"/>
          </a:xfrm>
          <a:prstGeom prst="ellipse">
            <a:avLst/>
          </a:prstGeom>
          <a:solidFill>
            <a:srgbClr val="118DFF"/>
          </a:solidFill>
          <a:ln w="12700">
            <a:solidFill>
              <a:srgbClr val="118D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720840" y="1463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series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20116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sales line chart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2971800"/>
            <a:ext cx="2560320" cy="1463040"/>
          </a:xfrm>
          <a:prstGeom prst="roundRect">
            <a:avLst>
              <a:gd name="adj" fmla="val 7500"/>
            </a:avLst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3154680"/>
            <a:ext cx="365760" cy="365760"/>
          </a:xfrm>
          <a:prstGeom prst="ellipse">
            <a:avLst/>
          </a:prstGeom>
          <a:solidFill>
            <a:srgbClr val="118DFF"/>
          </a:solidFill>
          <a:ln w="12700">
            <a:solidFill>
              <a:srgbClr val="118D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3154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234440" y="3154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Cards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37033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Totals and summary figures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291840" y="2971800"/>
            <a:ext cx="2560320" cy="1463040"/>
          </a:xfrm>
          <a:prstGeom prst="roundRect">
            <a:avLst>
              <a:gd name="adj" fmla="val 7500"/>
            </a:avLst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3154680"/>
            <a:ext cx="365760" cy="365760"/>
          </a:xfrm>
          <a:prstGeom prst="ellipse">
            <a:avLst/>
          </a:prstGeom>
          <a:solidFill>
            <a:srgbClr val="118DFF"/>
          </a:solidFill>
          <a:ln w="12700">
            <a:solidFill>
              <a:srgbClr val="118D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74720" y="3154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3977640" y="3154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Colour theme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3474720" y="37033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consistent blue palette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035040" y="2971800"/>
            <a:ext cx="2560320" cy="1463040"/>
          </a:xfrm>
          <a:prstGeom prst="roundRect">
            <a:avLst>
              <a:gd name="adj" fmla="val 7500"/>
            </a:avLst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17920" y="3154680"/>
            <a:ext cx="365760" cy="365760"/>
          </a:xfrm>
          <a:prstGeom prst="ellipse">
            <a:avLst/>
          </a:prstGeom>
          <a:solidFill>
            <a:srgbClr val="118DFF"/>
          </a:solidFill>
          <a:ln w="12700">
            <a:solidFill>
              <a:srgbClr val="118D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17920" y="3154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6720840" y="3154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Layout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6217920" y="37033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sections: KPIs, trends, breakdowns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 &amp; Recommendations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640080" cy="64008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123444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Protect margin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64592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C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pricing and discounts in Furniture to lift its profit.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640080" cy="64008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33172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 the winners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274320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C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investing in Technology and the Central region.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520440"/>
            <a:ext cx="640080" cy="64008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520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34290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for seasons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384048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C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inventory and promotions with the yearly sales peaks.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4805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300</Words>
  <Application>Microsoft Office PowerPoint</Application>
  <PresentationFormat>On-screen Show (16:9)</PresentationFormat>
  <Paragraphs>80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Dashboard - Task 4</dc:title>
  <dc:subject>PptxGenJS Presentation</dc:subject>
  <dc:creator>PptxGenJS</dc:creator>
  <cp:lastModifiedBy>M BISH6</cp:lastModifiedBy>
  <cp:revision>2</cp:revision>
  <dcterms:created xsi:type="dcterms:W3CDTF">2026-10-06T09:34:32Z</dcterms:created>
  <dcterms:modified xsi:type="dcterms:W3CDTF">2026-10-06T09:37:38Z</dcterms:modified>
</cp:coreProperties>
</file>